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F57A-D88E-4FD2-9A1A-9DF0629D2307}" type="datetimeFigureOut">
              <a:rPr lang="fr-FR" smtClean="0"/>
              <a:t>28/03/2023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07628-040B-4409-B0F3-6AF90E09C0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1349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F57A-D88E-4FD2-9A1A-9DF0629D2307}" type="datetimeFigureOut">
              <a:rPr lang="fr-FR" smtClean="0"/>
              <a:t>28/03/2023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07628-040B-4409-B0F3-6AF90E09C0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0227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F57A-D88E-4FD2-9A1A-9DF0629D2307}" type="datetimeFigureOut">
              <a:rPr lang="fr-FR" smtClean="0"/>
              <a:t>28/03/2023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07628-040B-4409-B0F3-6AF90E09C0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3760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F57A-D88E-4FD2-9A1A-9DF0629D2307}" type="datetimeFigureOut">
              <a:rPr lang="fr-FR" smtClean="0"/>
              <a:t>28/03/2023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07628-040B-4409-B0F3-6AF90E09C0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7457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F57A-D88E-4FD2-9A1A-9DF0629D2307}" type="datetimeFigureOut">
              <a:rPr lang="fr-FR" smtClean="0"/>
              <a:t>28/03/2023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07628-040B-4409-B0F3-6AF90E09C0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3732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F57A-D88E-4FD2-9A1A-9DF0629D2307}" type="datetimeFigureOut">
              <a:rPr lang="fr-FR" smtClean="0"/>
              <a:t>28/03/2023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07628-040B-4409-B0F3-6AF90E09C0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5877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F57A-D88E-4FD2-9A1A-9DF0629D2307}" type="datetimeFigureOut">
              <a:rPr lang="fr-FR" smtClean="0"/>
              <a:t>28/03/2023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07628-040B-4409-B0F3-6AF90E09C0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980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F57A-D88E-4FD2-9A1A-9DF0629D2307}" type="datetimeFigureOut">
              <a:rPr lang="fr-FR" smtClean="0"/>
              <a:t>28/03/2023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07628-040B-4409-B0F3-6AF90E09C0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4042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F57A-D88E-4FD2-9A1A-9DF0629D2307}" type="datetimeFigureOut">
              <a:rPr lang="fr-FR" smtClean="0"/>
              <a:t>28/03/2023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07628-040B-4409-B0F3-6AF90E09C0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999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F57A-D88E-4FD2-9A1A-9DF0629D2307}" type="datetimeFigureOut">
              <a:rPr lang="fr-FR" smtClean="0"/>
              <a:t>28/03/2023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07628-040B-4409-B0F3-6AF90E09C0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6411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F57A-D88E-4FD2-9A1A-9DF0629D2307}" type="datetimeFigureOut">
              <a:rPr lang="fr-FR" smtClean="0"/>
              <a:t>28/03/2023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07628-040B-4409-B0F3-6AF90E09C0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9690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3F57A-D88E-4FD2-9A1A-9DF0629D2307}" type="datetimeFigureOut">
              <a:rPr lang="fr-FR" smtClean="0"/>
              <a:t>28/03/2023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007628-040B-4409-B0F3-6AF90E09C0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2165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adenas fermé sur fond numérique, cyber-sécurité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8" b="7514"/>
          <a:stretch/>
        </p:blipFill>
        <p:spPr bwMode="auto">
          <a:xfrm>
            <a:off x="1" y="0"/>
            <a:ext cx="1235746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" y="302512"/>
            <a:ext cx="10063524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1" cap="none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Network </a:t>
            </a:r>
            <a:r>
              <a:rPr lang="fr-FR" sz="5400" b="1" cap="none" spc="50" dirty="0" err="1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Defence</a:t>
            </a:r>
            <a:r>
              <a:rPr lang="fr-FR" sz="5400" b="1" cap="none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 </a:t>
            </a:r>
            <a:r>
              <a:rPr lang="fr-FR" sz="5400" b="1" cap="none" spc="50" dirty="0" err="1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Mechanism</a:t>
            </a:r>
            <a:endParaRPr lang="fr-FR" sz="5400" b="1" cap="none" spc="50" dirty="0" smtClean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  <a:p>
            <a:pPr algn="ctr"/>
            <a:r>
              <a:rPr lang="en-US" sz="5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And Cybersecurity Awareness for </a:t>
            </a:r>
          </a:p>
          <a:p>
            <a:pPr algn="ctr"/>
            <a:r>
              <a:rPr lang="en-US" sz="5400" b="1" cap="none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UK </a:t>
            </a:r>
            <a:r>
              <a:rPr lang="en-US" sz="5400" b="1" cap="none" spc="50" dirty="0" err="1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Buisiness</a:t>
            </a:r>
            <a:r>
              <a:rPr lang="en-US" sz="5400" b="1" cap="none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 </a:t>
            </a:r>
            <a:endParaRPr lang="fr-FR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94367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asque avec microphone de conception low-poly, image géométrique abstraite casque, prise en charge du maillage filaire illustration vectorielle polygonale faite de points et de lignes sur fond bleu foncé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46" b="7318"/>
          <a:stretch/>
        </p:blipFill>
        <p:spPr bwMode="auto">
          <a:xfrm>
            <a:off x="0" y="0"/>
            <a:ext cx="12192000" cy="6879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7945513" y="536993"/>
            <a:ext cx="12853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Summmary</a:t>
            </a:r>
            <a:endParaRPr lang="fr-FR" dirty="0"/>
          </a:p>
        </p:txBody>
      </p:sp>
      <p:sp>
        <p:nvSpPr>
          <p:cNvPr id="3" name="Rectangle 2"/>
          <p:cNvSpPr/>
          <p:nvPr/>
        </p:nvSpPr>
        <p:spPr>
          <a:xfrm>
            <a:off x="7823457" y="1073986"/>
            <a:ext cx="181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Target Audience</a:t>
            </a:r>
            <a:endParaRPr lang="fr-FR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554516" y="1443318"/>
            <a:ext cx="26991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Security </a:t>
            </a:r>
            <a:r>
              <a:rPr lang="fr-FR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Mechanism</a:t>
            </a:r>
            <a:r>
              <a:rPr lang="fr-FR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fr-FR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tool</a:t>
            </a:r>
            <a:endParaRPr lang="fr-FR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86948" y="1917558"/>
            <a:ext cx="4834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Encouraging Acceptance of Security Measures</a:t>
            </a:r>
            <a:endParaRPr lang="fr-FR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15159" y="2391798"/>
            <a:ext cx="20329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Compliance </a:t>
            </a:r>
            <a:r>
              <a:rPr lang="fr-FR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Rules</a:t>
            </a:r>
            <a:r>
              <a:rPr lang="fr-FR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endParaRPr lang="fr-FR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44367" y="2866038"/>
            <a:ext cx="33194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Awaraness</a:t>
            </a:r>
            <a:r>
              <a:rPr lang="fr-FR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of compliance </a:t>
            </a:r>
            <a:r>
              <a:rPr lang="fr-FR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rules</a:t>
            </a:r>
            <a:endParaRPr lang="fr-FR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012854" y="3370419"/>
            <a:ext cx="31506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Adhering</a:t>
            </a:r>
            <a:r>
              <a:rPr lang="fr-FR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of compliance </a:t>
            </a:r>
            <a:r>
              <a:rPr lang="fr-FR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rules</a:t>
            </a:r>
            <a:endParaRPr lang="fr-FR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944915" y="3874800"/>
            <a:ext cx="35734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Importance of </a:t>
            </a:r>
            <a:r>
              <a:rPr lang="fr-FR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security</a:t>
            </a:r>
            <a:r>
              <a:rPr lang="fr-FR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fr-FR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measures</a:t>
            </a:r>
            <a:r>
              <a:rPr lang="fr-FR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endParaRPr lang="fr-FR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054464" y="4349040"/>
            <a:ext cx="33543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Common </a:t>
            </a:r>
            <a:r>
              <a:rPr lang="fr-FR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cybersecurity</a:t>
            </a:r>
            <a:r>
              <a:rPr lang="fr-FR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fr-FR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threats</a:t>
            </a:r>
            <a:r>
              <a:rPr lang="fr-FR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endParaRPr lang="fr-FR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18726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Arrière-Plan Vectoriel Abstrai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-144" b="7318"/>
          <a:stretch/>
        </p:blipFill>
        <p:spPr bwMode="auto">
          <a:xfrm>
            <a:off x="0" y="0"/>
            <a:ext cx="12192000" cy="6947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518427" y="792064"/>
            <a:ext cx="514333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Who are we targeting?</a:t>
            </a:r>
            <a:endParaRPr lang="fr-FR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69170" y="2175472"/>
            <a:ext cx="11385176" cy="2075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Our target audience for this presentation is the employees of a UK-based financial institution with a workforce of over 1000 individuals.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The reason for selecting this target audience is the high sensitivity of financial data, which makes it a prime target for cybercriminals.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Their capacity and business requirement includes processing and handling large amounts of confidential financial data daily.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124" name="Picture 4" descr="The Full List of UK Unicorn Companies | Updated H1 2022 | Beauhurs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480" y="4433801"/>
            <a:ext cx="4605396" cy="1977082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825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Polygonal pattern with triangles mosaic cover. Style for your business design. Vector illustration. Creative gradient color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17" b="7616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126896" y="1005258"/>
            <a:ext cx="6110327" cy="6192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Network Defense Mechanism Tool</a:t>
            </a:r>
            <a:endParaRPr lang="fr-F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26895" y="2749913"/>
            <a:ext cx="9737528" cy="1482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The network defense mechanism tool we have chosen is a Next-Generation Firewall (NGFW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NGFW offers advanced features like Intrusion Detection and Prevention Systems (IDPS), deep packet inspection, and application-level inspection to improve the overall security posture of the network.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6148" name="Picture 4" descr="NGFW Guide: What are Next-Generation Firewalls? Updated 2023 !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7463" y="4374443"/>
            <a:ext cx="4290988" cy="21454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015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Background with triangles. Modern design for you business, project. Vector illustration. Pastel gradient color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3" b="8269"/>
          <a:stretch/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653142" y="1078344"/>
            <a:ext cx="11199223" cy="42757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Encouraging Acceptance of Security Measures</a:t>
            </a:r>
            <a:endParaRPr lang="fr-FR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It's crucial to make sure that end-users and staff accept the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new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tools to improve overall network security.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The approach we propose is to provide extensive training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staff and end-users on the importance of the NGFW and how it works.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We can also provide simulation exercises where staff can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learn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by implementing the new tool in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simulated environment.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7172" name="Picture 4" descr="Are your corporate security measures up to scratch? - Blackhawk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1624" y="2343258"/>
            <a:ext cx="4127862" cy="38947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36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Réseau technique abstrait bleu blanc en polygone avec fond technologique de connexion. Arrière-plan texture abstrait points et lignes. Rendu 3d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1" b="10228"/>
          <a:stretch/>
        </p:blipFill>
        <p:spPr bwMode="auto">
          <a:xfrm>
            <a:off x="-8709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757645" y="546301"/>
            <a:ext cx="11312435" cy="3477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Governance and Compliance Rules</a:t>
            </a:r>
            <a:endParaRPr lang="fr-FR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The UK's Financial Conduct Authority (FCA) governs the regulations for financial institutions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which include data protection and privacy regulations such as GDPR and the Data Protection Act 2018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The targeted audience must adhere to these regulations while operating in the UK.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The consequences of non-compliance can result in fines, loss of reputation, and legal action.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196" name="Picture 4" descr="Financial Conduct Authority | FC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3334" y="4570414"/>
            <a:ext cx="5394141" cy="1702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806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Technologie abstraite et science espace polygonal arrière-plan low-poly Ton bleu avec points et lignes de connexion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83" b="11026"/>
          <a:stretch/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609599" y="441935"/>
            <a:ext cx="11477897" cy="2643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Raising Awareness of Compliance Rules</a:t>
            </a:r>
            <a:endParaRPr lang="fr-FR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Raising awareness of compliance rules is crucial to ensure staff and end-users adhere to the regulations.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We propose providing regular training and conducting compliance assessments to ensure they are aware of the latest regulations.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Providing real-world examples and case studies can help staff and end-users understand the importance of compliance.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9220" name="Picture 4" descr="Do Your Employees Know About Your Compliance Management Program? 5 Tips for  Raising Awareness · Riskonnec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0673" y="3625687"/>
            <a:ext cx="5050130" cy="269172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9636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Réseau technique abstrait bleu blanc en polygone avec fond technologique de connexion. Arrière-plan texture abstrait points et lignes. Rendu 3d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0" b="10228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18012" y="503579"/>
            <a:ext cx="6096000" cy="369690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Implementing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Compliance Rules</a:t>
            </a:r>
            <a:endParaRPr lang="fr-F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Adhering to compliance rules involves implementing technical controls, policies, and procedures that are in line with the regulations.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We propose implementing a formal data protection policy that outlines procedures and guidelines for handling and processing sensitive financial data.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This policy should also cover the use of the NGFW to ensure compliance with data protection and privacy regulations.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244" name="Picture 4" descr="Licence to bribe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0420" y="4324122"/>
            <a:ext cx="2305050" cy="1981201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207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Arrière-plan abstrait de la technologie de connexion au réseau numériqu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03" b="10881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65463" y="597088"/>
            <a:ext cx="12026537" cy="29104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Importance of Security Measures</a:t>
            </a:r>
            <a:endParaRPr lang="fr-F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It's essential to understand the importance of security measures to protect sensitive financial data.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The security triad (confidentiality, integrity, and availability) should be considered while implementing security measures.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NGFW is an essential tool in improving the overall security posture of the network and ensuring the confidentiality, integrity, and availability of sensitive financial data.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and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firewalls.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1268" name="Picture 4" descr="5 Data Security measures you can't do without at the Workpla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9954" y="3694928"/>
            <a:ext cx="3196046" cy="228289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9838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Abstract technology and science polygonal space low poly background Tone blue gray with connecting dots and lines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6" b="8595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65463" y="453378"/>
            <a:ext cx="11904617" cy="4469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Threats to Sensitive Financial Data</a:t>
            </a:r>
            <a:endParaRPr lang="fr-FR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fr-FR" dirty="0" smtClean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It's crucial to understand the common cybersecurity threats that can compromise sensitive financial data.</a:t>
            </a:r>
            <a:endParaRPr lang="fr-FR" dirty="0" smtClean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Some of the most common threats include phishing attacks, malware, ransomware, and social engineering attacks.</a:t>
            </a:r>
            <a:endParaRPr lang="fr-FR" dirty="0" smtClean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Employees must be trained to recognize and report these threats to prevent any damage to the network and data.</a:t>
            </a:r>
            <a:endParaRPr lang="fr-FR" dirty="0" smtClean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fr-FR" dirty="0" smtClean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Provide some examples and statistics to illustrate the impact of these threats on financial institutions, such as data breaches, financial loss, and reputational damage.</a:t>
            </a:r>
            <a:endParaRPr lang="fr-FR" dirty="0" smtClean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fr-FR" dirty="0" smtClean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Highlight some best practices and recommendations to prevent these threats, such as implementing strong passwords, two-factor authentication, regular updates and patches, and using security software like antivirus and firewalls.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2292" name="Picture 4" descr="Sensitive data exposure in public web assets: A hidden threat | Invict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5428" y="4827412"/>
            <a:ext cx="3604169" cy="189125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3472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Light Blue, Yellow vector background with bubbles, lines. Glitter abstract illustration with connection of triangle structure. Completely new template for your brand book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" t="-7184" r="-440" b="7184"/>
          <a:stretch/>
        </p:blipFill>
        <p:spPr bwMode="auto">
          <a:xfrm>
            <a:off x="0" y="-513171"/>
            <a:ext cx="12305211" cy="7371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87382" y="398940"/>
            <a:ext cx="11486606" cy="3338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Key Takeaways</a:t>
            </a:r>
            <a:endParaRPr lang="fr-FR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In conclusion, we have discussed the importance of implementing specific security measures and tools to protect sensitive financial data.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We have identified NGFW as an essential tool in improving the overall security posture of the network.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We have provided a valid approach for getting end-users and staff to accept the new tools proposed.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Finally, we have highlighted the governance and compliance rules that the targeted audience must adhere to while operating in the UK.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3316" name="Picture 4" descr="Key Takeaway Stock Illustrations – 234 Key Takeaway Stock Illustrations,  Vectors &amp; Clipart - Dreamstim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1536" y="3499192"/>
            <a:ext cx="3896689" cy="3117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9742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728</TotalTime>
  <Words>189</Words>
  <Application>Microsoft Office PowerPoint</Application>
  <PresentationFormat>Grand écran</PresentationFormat>
  <Paragraphs>69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Hadil Fathallah (Student)</dc:creator>
  <cp:lastModifiedBy>Hadil Fathallah (Student)</cp:lastModifiedBy>
  <cp:revision>8</cp:revision>
  <dcterms:created xsi:type="dcterms:W3CDTF">2023-03-28T11:17:39Z</dcterms:created>
  <dcterms:modified xsi:type="dcterms:W3CDTF">2023-03-28T23:26:06Z</dcterms:modified>
</cp:coreProperties>
</file>